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30" autoAdjust="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48B6C-0900-4684-AB8C-647A1BE5DD81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ACEE8-AC0F-4E67-A01B-0FD48FF239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10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ACEE8-AC0F-4E67-A01B-0FD48FF2395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02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1574A-4AD6-4CB3-90F9-E36C933ED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76D289-5646-4937-AF3A-5009E5CC4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565D3A-FBD3-4A4F-81B8-3A5393EC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5233EF-FE91-40CF-92E6-E8933A75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D1207A-051C-45D1-ABF3-258977497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00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CB550-FC84-4D4B-A271-3D1080F9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5BD20-7054-427E-9C39-4F7660B56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D3D137-C76F-4385-B1F0-547B226B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E978FA-8DE7-493C-B8AD-69B75EF7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01ECBA-05DC-452A-AF9A-CB171679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5153F-98BB-4C60-8F0A-8F780564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939603-A627-400B-BD24-1E20D296F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73ACA3-8A36-48E3-A38D-4452A5DF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4EBEE9-39A1-4C5F-9BBD-5851BFAD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0AE1EF-82CE-4428-AB73-48816216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34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61BA8-427D-4432-8AF0-87122570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A5AC2A-1656-4841-9D1B-3AD42CA04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99DBBD-B012-4EAF-992E-13E81B981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A85D18-663A-4EC6-BDB5-748D1E11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C9E7D6-CE8D-4909-A899-2364C504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20234B-27FC-41D4-A249-0D47E595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1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EB02C-E1BC-45CA-A298-4391679C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2B22B6-D117-401D-B250-83684912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556109-295E-4A46-B6B4-1138F774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16728D-FF09-4FD5-9E18-89F0954EB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E15FC4-89A4-4CB6-84CC-A190C8886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16F842-36CC-444B-98D5-E9E1AC92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358702C-EC7D-430F-BF64-CC7F1E0E8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190C490-ADA2-4828-97BB-13C6D2E12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31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44D87-2775-4045-A275-69E2A4CF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0E29CF-79A8-4557-B2DF-9B2FB34C8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864D9F-578E-4AE3-A66A-CC1FF641F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0B930B-51D8-45F3-85D3-75F9B684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65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8A57388-B42A-4110-9292-F194BC19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1CBF4ED-3284-4B28-83C2-8107B65D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8D7A1C-CE79-4835-BE97-3DCBC121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720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B934F-841F-4C91-A5FE-3DD7E3F69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16539E-DB8F-4CB3-B59C-51F295C7D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9B8826-0F86-49D7-9036-86E152A08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9EFC60-F5FE-44B9-8505-D5FDD0A6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1CB408-8C23-4B93-ABCF-D81C1CBF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26CAF-ADFF-4DB5-8817-7189D602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104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47D2F-DAD9-484C-93D7-646FD1255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8465EFC-893D-4CFA-8EE4-DC1CB39BD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CD2761-60AC-4FF9-A1D0-70D488BB7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DEA255-2DC1-49A2-82BD-EB6D5E31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DA2BEB-22B4-4656-AC09-53AA0A42E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F60949-0894-4912-B1B9-B1096BFC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68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3674E-6D41-4758-9930-5001570D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0B3021-F732-4D9E-A4B9-BC8456ED8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B61D33-0318-4CCC-A893-B5D69E2E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C1A08-F24B-4BD6-A8E7-E1F37A5C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95CA33-8E63-4425-8746-A4326E41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68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2AB7C2D-26A9-45B1-9539-A41391968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F6328F-D526-4C8A-99E1-92A09F2BF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1AB090-1925-498E-84E9-F5480A0CF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FE75AB-1E5E-4AE9-8B43-73671615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F2555A-E44F-4DB7-8048-95B70F62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99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F7753-579C-4805-A86D-BE247CEE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54178E-EB68-4E5C-962D-79340D3CC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6C1C1-BFBC-4159-89F8-D8205459B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D23D7-8A55-4E4B-BC4D-7868133A038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4D007A-8FD7-478A-8A21-30596D9AB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445AA9-9A86-45D3-B7EC-9A602853D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FEDAC-4428-425B-AC15-9C5DECFAE5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685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71722" y="2469368"/>
            <a:ext cx="9144000" cy="14426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«Проектирование ИС «Торговая Компания»»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996392" y="4274194"/>
            <a:ext cx="4850296" cy="1651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Орлов Е.А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25-11-1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</a:p>
          <a:p>
            <a:pPr algn="r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 ТЮМЕНСКОЙ ОБЛАСТИ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E07DA-A2A6-43CF-B734-481A07F9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Предметная область – процесс продажи товаров в торговой компании, ориентированной на онлайн-взаимодействие с клиентами, принцип взаимодействия как на маркетплейсах. </a:t>
            </a:r>
          </a:p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бизнес-процессы включают: привлечение товаров от поставщиков и маркетинг; оформление продажи и получение выручки; отгрузку, обслуживание и формирование отчетности; анализ рынка и планирование ресурсов.</a:t>
            </a:r>
          </a:p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Основной процесс: клиент формирует заказ; система проверяет наличие товаров; выставляется счет; после оплаты отгружается товар; обновляются остатки; формируется отчетность.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55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E07DA-A2A6-43CF-B734-481A07F9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современных условиях развития цифровой экономики торговые компании сталкиваются с рядом проблем при ведении деятельности в онлайн-среде.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Одной из главных проблем является отсутствие единой автоматизированной системы, которая объединяла бы все бизнес-процессы: от приёма заказов до формирования отчётности. Многие компании продолжают использовать ручной учёт или разрозненные инструменты (Excel, бумажные журналы, несколько несвязанных программ) , что приводит к последствиям.</a:t>
            </a:r>
          </a:p>
        </p:txBody>
      </p:sp>
    </p:spTree>
    <p:extLst>
      <p:ext uri="{BB962C8B-B14F-4D97-AF65-F5344CB8AC3E}">
        <p14:creationId xmlns:p14="http://schemas.microsoft.com/office/powerpoint/2010/main" val="399933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E07DA-A2A6-43CF-B734-481A07F9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работы: разработать функциональную и информационную модель автоматизированной системы управления торговой компанией, описать ее архитектуру и основные пользовательские сценарии.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 работы: провести анализ предметной области; построить функциональные модели в нотациях IDEF0, DFD и описать задачи пользователей; спроектировать информационную систему и составить техническое задание; разработать эскизный проект мобильного приложения.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1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 предмет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E07DA-A2A6-43CF-B734-481A07F90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420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 исследования – деятельность торговой компании, включающая процессы приема заказов, управления складскими остатками, взаимодействия с клиентами и поставщиками.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Предмет исследования – модели, методы и средства проектирования информационной системы для автоматизации учета и управления торговой компанией.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75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171E4E2-8159-4FBB-8200-917E132D695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6" y="1323975"/>
            <a:ext cx="9474412" cy="5443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2979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диаграммы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133691C-5D52-4C2E-A079-9042B6D4B8A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4" y="1419225"/>
            <a:ext cx="8313029" cy="53101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3570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диаграмма DFD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90254E4-81D5-4BC7-A2F3-A2D76CFA951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1190625"/>
            <a:ext cx="8930529" cy="5302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231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диаграммы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294ABD0-A55F-4702-9CD1-CF401B13EEE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648" y="1316736"/>
            <a:ext cx="8352933" cy="5408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362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Техническое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E07DA-A2A6-43CF-B734-481A07F9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 разработки ИС:  создание интегрированной платформы для автоматизации учёта товародвижения, управления продажами и закупками, а также ведения клиентской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поставщической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базы. Система обеспечивает хранение данных о клиентах, продавцах,   товарах и заказах,  автоматизированную обработку заявок на покупку, управление корзиной и статусами заказов, генерацию отчётности и контроль выполнения заказов.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разработки:  анализ требований и согласование архитектуры; разработка базы данных и пользовательского интерфейса; программная реализация серверной и клиентской частей; настройка модулей управления заказами, складом и внешней интеграции; разработка документации и эксплуатация.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 авторизация и ролевая модель доступа; CRUD-операции с заказами, клиентами, продавцами, товарами и поставщикам; просмотр каталога товаров с фильтрацией по категориям, цене и наличию на складе; поиск товаров по ключевому слову с выводом релевантных результатов; оформление заказа с автоматическим расчётом итоговой суммы, выбором способа оплаты и адреса доставки; управление корзиной; отслеживание статуса заказа; формирование товарных накладных, счетов и отчётов по продажам, остаткам и закупкам; системное логирование действий и уведомления о статусе заказа.</a:t>
            </a:r>
          </a:p>
        </p:txBody>
      </p:sp>
    </p:spTree>
    <p:extLst>
      <p:ext uri="{BB962C8B-B14F-4D97-AF65-F5344CB8AC3E}">
        <p14:creationId xmlns:p14="http://schemas.microsoft.com/office/powerpoint/2010/main" val="183861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F985441-84DC-4ED2-A0C1-3933C585E0E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706" y="1376227"/>
            <a:ext cx="8533682" cy="51166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701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41E1980-A503-4181-B58F-5E3E4330A34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204" y="1391055"/>
            <a:ext cx="6288947" cy="5311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4109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2943998-841A-4DA0-849B-FADEFAAC051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77" y="1391055"/>
            <a:ext cx="5659548" cy="5320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185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5C06AFD-27E4-4D0F-98FF-A1DE00FA60C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562" y="1332690"/>
            <a:ext cx="6570862" cy="5320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982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1E41CE8-39CF-4FF9-870B-C0C41B47788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847" y="1371600"/>
            <a:ext cx="5940634" cy="5398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8751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Физическая модель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4142D09-648B-4F4B-9D31-D2889309640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0161" y="1293779"/>
            <a:ext cx="8100509" cy="547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3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 к базе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7BC44D2-18EC-4BFC-82FB-8E52709E625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0790" y="4874356"/>
            <a:ext cx="3982006" cy="8954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AAC33E-F471-43F5-AA1B-B74DBFB8D80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08129" y="5637530"/>
            <a:ext cx="3433366" cy="12204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EEEDCB3-5569-4505-9158-35F15CB66FB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3740" y="1437241"/>
            <a:ext cx="3117215" cy="8242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AC01E3-ED3E-4098-A028-94BFD013B95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68043" y="2065557"/>
            <a:ext cx="3433366" cy="10154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64FB0F-4E19-457F-98A5-40702C0B855E}"/>
              </a:ext>
            </a:extLst>
          </p:cNvPr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1391" y="4421980"/>
            <a:ext cx="3629025" cy="18002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59C155-E0F9-4616-9202-FB2BA0692DBD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124296" y="6186791"/>
            <a:ext cx="6762887" cy="6590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2F651DA-B2F4-4074-BF0E-85E149AE397D}"/>
              </a:ext>
            </a:extLst>
          </p:cNvPr>
          <p:cNvPicPr/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0790" y="1254554"/>
            <a:ext cx="4114800" cy="25812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A3CC75-F3E6-4C66-A4C5-C521363CA0B7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8220790" y="3723669"/>
            <a:ext cx="3408045" cy="121412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83F78D8-9D36-4AE4-8898-C08505D2629B}"/>
              </a:ext>
            </a:extLst>
          </p:cNvPr>
          <p:cNvPicPr/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7532" y="1437241"/>
            <a:ext cx="3562350" cy="28003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74247B8-7E99-4F99-A942-6C8E0CD23C34}"/>
              </a:ext>
            </a:extLst>
          </p:cNvPr>
          <p:cNvPicPr/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97532" y="4203447"/>
            <a:ext cx="4205538" cy="212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19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23F0F6-D132-4F83-9241-BEDD22118F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0248" y="2189005"/>
            <a:ext cx="2001075" cy="4486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3667C1-2339-4099-BEBB-23DE0EB6F69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97137" y="1690688"/>
            <a:ext cx="2001075" cy="45564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31DF0A-40E9-421C-BE59-A8402C5D090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974026" y="1245371"/>
            <a:ext cx="1933575" cy="45564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5A76D5-B50E-4A0C-B983-C70CB2051FA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083415" y="1690688"/>
            <a:ext cx="1933575" cy="44862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8977D5-9B8B-4A77-A6D6-DE028D98D114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192804" y="2189005"/>
            <a:ext cx="1962150" cy="44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36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C9BC8-D3F6-4B0E-B7CB-C2942D566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E80F8-D27A-4ABE-A9EE-24CD16E3CEDD}"/>
              </a:ext>
            </a:extLst>
          </p:cNvPr>
          <p:cNvSpPr txBox="1"/>
          <p:nvPr/>
        </p:nvSpPr>
        <p:spPr>
          <a:xfrm>
            <a:off x="0" y="1429966"/>
            <a:ext cx="1219200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ходе выполнения курсового проекта была спроектирована информационная система для автоматизации процессов управления торговой компанией (онлайн-маркетплейс).</a:t>
            </a:r>
          </a:p>
          <a:p>
            <a:pPr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Решены следующие задачи:</a:t>
            </a:r>
          </a:p>
          <a:p>
            <a:pPr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Проведён анализ предметной области – выявлены основные сущности, категории пользователей, выполнен сравнительный анализ систем-аналогов (1С,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МойСклад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Разработана функциональная модель в нотациях IDEF0 и DFD, описывающая процессы от приёма заказа до формирования отчётности. Построены UML-диаграммы.</a:t>
            </a:r>
          </a:p>
          <a:p>
            <a:pPr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Созданы концептуальная, логическая и физическая модели базы данных. Физическая модель реализована в СУБД MySQL, включает 12 таблиц и внешние ключи. Составлены 5 SQL-запросов для основных пользовательских сценариев, которые были успешно протестированы.</a:t>
            </a:r>
          </a:p>
          <a:p>
            <a:pPr algn="just">
              <a:lnSpc>
                <a:spcPct val="150000"/>
              </a:lnSpc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 эскизный проект мобильного приложения – 5 экранов в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Figma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(главная страница, поиск, карточка товара, корзина, профиль пользователя и поддержка). Прототип выполнен в светлых тонах и адаптирован для мобильных устройств.</a:t>
            </a:r>
          </a:p>
        </p:txBody>
      </p:sp>
    </p:spTree>
    <p:extLst>
      <p:ext uri="{BB962C8B-B14F-4D97-AF65-F5344CB8AC3E}">
        <p14:creationId xmlns:p14="http://schemas.microsoft.com/office/powerpoint/2010/main" val="2098624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2DE01-7FA9-40F4-96EE-732B362E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25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410962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684</Words>
  <Application>Microsoft Office PowerPoint</Application>
  <PresentationFormat>Широкоэкранный</PresentationFormat>
  <Paragraphs>48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Описание предметной области</vt:lpstr>
      <vt:lpstr>Проблематика</vt:lpstr>
      <vt:lpstr>Цели и задачи</vt:lpstr>
      <vt:lpstr>Объект и предмет исследования</vt:lpstr>
      <vt:lpstr>Контекстная  Диаграмма IDEF0</vt:lpstr>
      <vt:lpstr>Декомпозиция диаграммы IDEF0</vt:lpstr>
      <vt:lpstr>Контекстная диаграмма DFD  </vt:lpstr>
      <vt:lpstr>Декомпозиция диаграммы DFD</vt:lpstr>
      <vt:lpstr>Техническое задание</vt:lpstr>
      <vt:lpstr>Диаграмма вариантов использования</vt:lpstr>
      <vt:lpstr>Диаграмма деятельности</vt:lpstr>
      <vt:lpstr>Диаграмма классов</vt:lpstr>
      <vt:lpstr>Концептуальная модель данных</vt:lpstr>
      <vt:lpstr>Логическая модель данных</vt:lpstr>
      <vt:lpstr>Физическая модель данных</vt:lpstr>
      <vt:lpstr>Запросы к базе данных</vt:lpstr>
      <vt:lpstr>Пользовательский интерфейс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Орлов</dc:creator>
  <cp:lastModifiedBy>Егор Орлов</cp:lastModifiedBy>
  <cp:revision>9</cp:revision>
  <dcterms:created xsi:type="dcterms:W3CDTF">2026-05-14T03:06:13Z</dcterms:created>
  <dcterms:modified xsi:type="dcterms:W3CDTF">2026-05-14T05:05:41Z</dcterms:modified>
</cp:coreProperties>
</file>